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rels" ContentType="application/vnd.openxmlformats-package.relationships+xml"/>
  <Default Extension="bmp" ContentType="image/bmp"/>
  <Override PartName="/ppt/slides/slide2.xml" ContentType="application/vnd.openxmlformats-officedocument.presentationml.slide+xml"/>
  <Override PartName="/ppt/presentation.xml" ContentType="application/vnd.openxmlformats-officedocument.presentationml.presentation.main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s/slide14.xml" ContentType="application/vnd.openxmlformats-officedocument.presentationml.slide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app.xml" ContentType="application/vnd.openxmlformats-officedocument.extended-propertie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71" r:id="rId8"/>
    <p:sldId id="263" r:id="rId9"/>
    <p:sldId id="262" r:id="rId10"/>
    <p:sldId id="261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8" autoAdjust="0"/>
    <p:restoredTop sz="94673" autoAdjust="0"/>
  </p:normalViewPr>
  <p:slideViewPr>
    <p:cSldViewPr snapToGrid="0">
      <p:cViewPr varScale="1">
        <p:scale>
          <a:sx n="138" d="100"/>
          <a:sy n="138" d="100"/>
        </p:scale>
        <p:origin x="540" y="13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tableStyles" Target="tableStyle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/>
        </p:txBody>
      </p:sp>
      <p:sp>
        <p:nvSpPr>
          <p:cNvPr id="4" name="Google Shape;4;n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>
            <a:noAutofit/>
          </a:bodyPr>
          <a:lstStyle>
            <a:lvl1pPr marL="4572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 lvl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dt="0" sldNum="0" hdr="0" ftr="0"/>
  <p:notesStyle>
    <a:lvl1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/>
        </p:txBody>
      </p:sp>
      <p:sp>
        <p:nvSpPr>
          <p:cNvPr id="52" name="Google Shape;52;p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06cab2b3a_0_0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/>
        </p:txBody>
      </p:sp>
      <p:sp>
        <p:nvSpPr>
          <p:cNvPr id="58" name="Google Shape;58;g3b06cab2b3a_0_0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06cab2b3a_0_52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/>
        </p:txBody>
      </p:sp>
      <p:sp>
        <p:nvSpPr>
          <p:cNvPr id="64" name="Google Shape;64;g3b06cab2b3a_0_52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06cab2b3a_0_59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/>
        </p:txBody>
      </p:sp>
      <p:sp>
        <p:nvSpPr>
          <p:cNvPr id="70" name="Google Shape;70;g3b06cab2b3a_0_59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06cab2b3a_0_66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/>
        </p:txBody>
      </p:sp>
      <p:sp>
        <p:nvSpPr>
          <p:cNvPr id="76" name="Google Shape;76;g3b06cab2b3a_0_66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337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337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337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06cab2b3a_0_73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/>
        </p:txBody>
      </p:sp>
      <p:sp>
        <p:nvSpPr>
          <p:cNvPr id="82" name="Google Shape;82;g3b06cab2b3a_0_73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337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337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337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337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>
            <a:spLocks noGrp="1" noEditPoints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wrap="square" lIns="91425" tIns="91425" rIns="91425" bIns="91425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>
            <a:spLocks noGrp="1" noEditPoints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lvl="0"/>
          </a:p>
        </p:txBody>
      </p:sp>
      <p:sp>
        <p:nvSpPr>
          <p:cNvPr id="12" name="Google Shape;12;p2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>
            <a:spLocks noGrp="1" noEditPoints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>
            <a:spLocks noGrp="1" noEditPoints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800"/>
              <a:buNone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</a:lvl9pPr>
          </a:lstStyle>
          <a:p/>
        </p:txBody>
      </p:sp>
      <p:sp>
        <p:nvSpPr>
          <p:cNvPr id="18" name="Google Shape;18;p4"/>
          <p:cNvSpPr>
            <a:spLocks noGrp="1" noEditPoints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9pPr>
          </a:lstStyle>
          <a:p>
            <a:pPr lvl="0"/>
          </a:p>
        </p:txBody>
      </p:sp>
      <p:sp>
        <p:nvSpPr>
          <p:cNvPr id="19" name="Google Shape;19;p4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>
            <a:spLocks noGrp="1" noEditPoints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800"/>
              <a:buNone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</a:lvl9pPr>
          </a:lstStyle>
          <a:p/>
        </p:txBody>
      </p:sp>
      <p:sp>
        <p:nvSpPr>
          <p:cNvPr id="22" name="Google Shape;22;p5"/>
          <p:cNvSpPr>
            <a:spLocks noGrp="1" noEditPoints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</a:p>
        </p:txBody>
      </p:sp>
      <p:sp>
        <p:nvSpPr>
          <p:cNvPr id="23" name="Google Shape;23;p5"/>
          <p:cNvSpPr>
            <a:spLocks noGrp="1" noEditPoints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</a:p>
        </p:txBody>
      </p:sp>
      <p:sp>
        <p:nvSpPr>
          <p:cNvPr id="24" name="Google Shape;24;p5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>
            <a:spLocks noGrp="1" noEditPoints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800"/>
              <a:buNone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</a:lvl9pPr>
          </a:lstStyle>
          <a:p/>
        </p:txBody>
      </p:sp>
      <p:sp>
        <p:nvSpPr>
          <p:cNvPr id="27" name="Google Shape;27;p6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>
            <a:spLocks noGrp="1" noEditPoints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wrap="square" lIns="91425" tIns="91425" rIns="91425" bIns="91425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>
            <a:spLocks noGrp="1" noEditPoints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</a:p>
        </p:txBody>
      </p:sp>
      <p:sp>
        <p:nvSpPr>
          <p:cNvPr id="31" name="Google Shape;31;p7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>
            <a:spLocks noGrp="1" noEditPoints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25" tIns="91425" rIns="91425" bIns="91425" anchor="ctr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9"/>
          <p:cNvSpPr>
            <a:spLocks noGrp="1" noEditPoints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wrap="square" lIns="91425" tIns="91425" rIns="91425" bIns="91425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>
            <a:spLocks noGrp="1" noEditPoints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 lvl="0"/>
          </a:p>
        </p:txBody>
      </p:sp>
      <p:sp>
        <p:nvSpPr>
          <p:cNvPr id="39" name="Google Shape;39;p9"/>
          <p:cNvSpPr>
            <a:spLocks noGrp="1" noEditPoints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pPr lvl="0"/>
          </a:p>
        </p:txBody>
      </p:sp>
      <p:sp>
        <p:nvSpPr>
          <p:cNvPr id="40" name="Google Shape;40;p9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>
            <a:spLocks noGrp="1" noEditPoints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lvl1pPr>
          </a:lstStyle>
          <a:p>
            <a:pPr lvl="0"/>
          </a:p>
        </p:txBody>
      </p:sp>
      <p:sp>
        <p:nvSpPr>
          <p:cNvPr id="43" name="Google Shape;43;p10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>
            <a:spLocks noGrp="1" noEditPoints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wrap="square" lIns="91425" tIns="91425" rIns="91425" bIns="91425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>
            <a:spLocks noGrp="1" noEditPoints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</a:lvl9pPr>
          </a:lstStyle>
          <a:p>
            <a:pPr lvl="0"/>
          </a:p>
        </p:txBody>
      </p:sp>
      <p:sp>
        <p:nvSpPr>
          <p:cNvPr id="47" name="Google Shape;47;p11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wrap="square" lIns="91425" tIns="91425" rIns="91425" bIns="91425" anchor="ctr">
            <a:normAutofit/>
          </a:bodyPr>
          <a:lstStyle>
            <a:lvl1pPr>
              <a:buNone/>
            </a:lvl1pPr>
            <a:lvl2pPr lvl="1">
              <a:buNone/>
            </a:lvl2pPr>
            <a:lvl3pPr lvl="2">
              <a:buNone/>
            </a:lvl3pPr>
            <a:lvl4pPr lvl="3">
              <a:buNone/>
            </a:lvl4pPr>
            <a:lvl5pPr lvl="4">
              <a:buNone/>
            </a:lvl5pPr>
            <a:lvl6pPr lvl="5">
              <a:buNone/>
            </a:lvl6pPr>
            <a:lvl7pPr lvl="6">
              <a:buNone/>
            </a:lvl7pPr>
            <a:lvl8pPr lvl="7">
              <a:buNone/>
            </a:lvl8pPr>
            <a:lvl9pPr lvl="8">
              <a:buNone/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Ovr>
    <a:masterClrMapping/>
  </p:clrMapOvr>
  <p:hf dt="0" sldNum="0" hdr="0" ftr="0"/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>
            <a:spLocks noGrp="1" noEditPoints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>
            <a:spLocks noGrp="1" noEditPoints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pPr lvl="0"/>
          </a:p>
        </p:txBody>
      </p:sp>
      <p:sp>
        <p:nvSpPr>
          <p:cNvPr id="8" name="Google Shape;8;p1"/>
          <p:cNvSpPr>
            <a:spLocks noGrp="1" noEditPoints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>
            <a:normAutofit/>
          </a:bodyPr>
          <a:lstStyle>
            <a:lvl1pPr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sldNum="0" hdr="0" ftr="0"/>
  <p:txStyles>
    <p:titleStyle>
      <a:lvl1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lvl1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bmp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>
            <a:spLocks noGrp="1" noEditPoints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wrap="square" lIns="91425" tIns="91425" rIns="91425" bIns="91425" anchor="b">
            <a:norm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Проект по СИИ </a:t>
            </a:r>
          </a:p>
        </p:txBody>
      </p:sp>
      <p:sp>
        <p:nvSpPr>
          <p:cNvPr id="55" name="Google Shape;55;p13"/>
          <p:cNvSpPr>
            <a:spLocks noGrp="1" noEditPoints="1"/>
          </p:cNvSpPr>
          <p:nvPr>
            <p:ph type="subTitle" idx="1"/>
          </p:nvPr>
        </p:nvSpPr>
        <p:spPr>
          <a:xfrm>
            <a:off x="311700" y="2834125"/>
            <a:ext cx="8520600" cy="2309375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/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/>
              <a:t>Работу выполнили </a:t>
            </a:r>
          </a:p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/>
              <a:t>студенты группы ИВТ - 463</a:t>
            </a:r>
          </a:p>
          <a:p>
            <a:pPr mar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/>
              <a:t>Карпов А. В.</a:t>
            </a:r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>
            <a:spLocks noGrp="1" noEditPoints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0000"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Целевая аудитория</a:t>
            </a:r>
          </a:p>
        </p:txBody>
      </p:sp>
      <p:sp>
        <p:nvSpPr>
          <p:cNvPr id="61" name="Google Shape;61;p14"/>
          <p:cNvSpPr>
            <a:spLocks noGrp="1" noEditPoints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Люди среднего возраста (35-55 лет, испытывают проблемы со сном из-за изменения биоритмов)</a:t>
            </a:r>
          </a:p>
          <a:p>
            <a:pPr mar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Пожилые люди (60+ лет, качество сна ухудшается с возрастом)</a:t>
            </a:r>
          </a:p>
          <a:p>
            <a:pPr mar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Спортивные люди (20-50 лет, хотят оптимизировать циклы сна для восстановления после тренировок)</a:t>
            </a:r>
          </a:p>
          <a:p>
            <a:pPr mar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>
            <a:spLocks noGrp="1" noEditPoints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0000"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Проблема, которую мы решаем</a:t>
            </a:r>
          </a:p>
        </p:txBody>
      </p:sp>
      <p:sp>
        <p:nvSpPr>
          <p:cNvPr id="67" name="Google Shape;67;p15"/>
          <p:cNvSpPr>
            <a:spLocks noGrp="1" noEditPoints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"40% взрослых людей по всему миру страдают от нарушений сна, но только 10% обращаются за профессиональной помощью"</a:t>
            </a:r>
          </a:p>
          <a:p>
            <a:pPr mar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Люди тратят 7-9 часов в сутки на сон, но не понимают его качества</a:t>
            </a:r>
          </a:p>
          <a:p>
            <a:pPr mar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Существующие трекеры показывают только "сколько", но не "насколько хорошо"</a:t>
            </a:r>
          </a:p>
          <a:p>
            <a:pPr mar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Отсутствие персонализированных, научно-обоснованных рекомендаций</a:t>
            </a:r>
          </a:p>
          <a:p>
            <a:pPr mar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>
            <a:spLocks noGrp="1" noEditPoints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0000"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Наше видение</a:t>
            </a:r>
          </a:p>
        </p:txBody>
      </p:sp>
      <p:sp>
        <p:nvSpPr>
          <p:cNvPr id="73" name="Google Shape;73;p16"/>
          <p:cNvSpPr>
            <a:spLocks noGrp="1" noEditPoints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/>
          <a:p>
            <a:pPr mar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Персонализированная система анализа и улучшения качества сна с использованием AI. Приложение помогает отслеживать сон, анализировать его качество и получать персональные рекомендации для улучшения отдыха.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>
            <a:spLocks noGrp="1" noEditPoints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0000"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North Star Metric</a:t>
            </a:r>
            <a:endParaRPr dirty="0"/>
          </a:p>
        </p:txBody>
      </p:sp>
      <p:sp>
        <p:nvSpPr>
          <p:cNvPr id="79" name="Google Shape;79;p17"/>
          <p:cNvSpPr>
            <a:spLocks noGrp="1" noEditPoints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wrap="square" lIns="91425" tIns="91425" rIns="91425" bIns="91425" anchor="t">
            <a:normAutofit/>
          </a:bodyPr>
          <a:lstStyle/>
          <a:p>
            <a:pPr mar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Ключевой показатель качества сна (рассчитываемый по формуле на основе продолжительности, эффективности и соотношения фаз) стабильно улучшается или остается стабильно высоким (выше персонального порога) в течение 1 недели.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Архитектура</a:t>
            </a:r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1017725"/>
            <a:ext cx="9144000" cy="32141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Мультимедийное программное обеспечение, компьютер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229761"/>
            <a:ext cx="9144000" cy="46839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, диаграмма, программное обеспечение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222614"/>
            <a:ext cx="9144000" cy="46982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программное обеспечение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722119" y="509915"/>
            <a:ext cx="5699760" cy="2061835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снимок экрана, программное обеспечение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346820" y="2671585"/>
            <a:ext cx="4450357" cy="2256470"/>
          </a:xfrm>
          <a:prstGeom prst="rect">
            <a:avLst/>
          </a:prstGeom>
        </p:spPr>
      </p:pic>
      <p:sp>
        <p:nvSpPr>
          <p:cNvPr id="8" name="Google Shape;78;p17"/>
          <p:cNvSpPr>
            <a:spLocks noGrp="1" noEditPoints="1"/>
          </p:cNvSpPr>
          <p:nvPr>
            <p:ph type="title"/>
          </p:nvPr>
        </p:nvSpPr>
        <p:spPr>
          <a:xfrm>
            <a:off x="117737" y="-58121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0000"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Docker-compose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877416" y="2455228"/>
            <a:ext cx="5162674" cy="1192633"/>
          </a:xfrm>
          <a:prstGeom prst="rect">
            <a:avLst/>
          </a:prstGeom>
        </p:spPr>
      </p:pic>
      <p:pic>
        <p:nvPicPr>
          <p:cNvPr id="5" name="Рисунок 4" descr="Изображение выглядит как снимок экрана, текст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9681" y="3790657"/>
            <a:ext cx="4914900" cy="1278642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Шрифт, линия, число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326673" y="480869"/>
            <a:ext cx="5034088" cy="1831563"/>
          </a:xfrm>
          <a:prstGeom prst="rect">
            <a:avLst/>
          </a:prstGeom>
        </p:spPr>
      </p:pic>
      <p:sp>
        <p:nvSpPr>
          <p:cNvPr id="9" name="Google Shape;78;p17"/>
          <p:cNvSpPr txBox="1"/>
          <p:nvPr/>
        </p:nvSpPr>
        <p:spPr>
          <a:xfrm>
            <a:off x="117737" y="-58121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7500"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400" dirty="0">
                <a:solidFill>
                  <a:schemeClr val="tx1"/>
                </a:solidFill>
              </a:rPr>
              <a:t>CI/CD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программное обеспечение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462645" y="462835"/>
            <a:ext cx="5230091" cy="2912409"/>
          </a:xfrm>
          <a:prstGeom prst="rect">
            <a:avLst/>
          </a:prstGeom>
        </p:spPr>
      </p:pic>
      <p:pic>
        <p:nvPicPr>
          <p:cNvPr id="5" name="Рисунок 4" descr="Изображение выглядит как текст, Шрифт, снимок экрана, дизайн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11473" y="3718158"/>
            <a:ext cx="3770726" cy="1101052"/>
          </a:xfrm>
          <a:prstGeom prst="rect">
            <a:avLst/>
          </a:prstGeom>
        </p:spPr>
      </p:pic>
      <p:sp>
        <p:nvSpPr>
          <p:cNvPr id="6" name="Google Shape;78;p17"/>
          <p:cNvSpPr txBox="1"/>
          <p:nvPr/>
        </p:nvSpPr>
        <p:spPr>
          <a:xfrm>
            <a:off x="117737" y="-58121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7500"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400" dirty="0">
                <a:solidFill>
                  <a:schemeClr val="tx1"/>
                </a:solidFill>
              </a:rPr>
              <a:t>Notifications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Мультимедийное программное обеспечение, программное обеспечение, Графическое программное обеспечение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65909" y="521169"/>
            <a:ext cx="7412182" cy="3526577"/>
          </a:xfrm>
          <a:prstGeom prst="rect">
            <a:avLst/>
          </a:prstGeom>
        </p:spPr>
      </p:pic>
      <p:sp>
        <p:nvSpPr>
          <p:cNvPr id="4" name="Google Shape;78;p17"/>
          <p:cNvSpPr txBox="1"/>
          <p:nvPr/>
        </p:nvSpPr>
        <p:spPr>
          <a:xfrm>
            <a:off x="117737" y="-58121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7500"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400" dirty="0">
                <a:solidFill>
                  <a:schemeClr val="tx1"/>
                </a:solidFill>
              </a:rPr>
              <a:t>Grafana system metrics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Графическое программное обеспечение, Мультимедийное программное обеспечение, 3D-моделирование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99645" y="476953"/>
            <a:ext cx="7944710" cy="4189593"/>
          </a:xfrm>
          <a:prstGeom prst="rect">
            <a:avLst/>
          </a:prstGeom>
        </p:spPr>
      </p:pic>
      <p:sp>
        <p:nvSpPr>
          <p:cNvPr id="4" name="Google Shape;78;p17"/>
          <p:cNvSpPr txBox="1"/>
          <p:nvPr/>
        </p:nvSpPr>
        <p:spPr>
          <a:xfrm>
            <a:off x="117737" y="-58121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7500"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400" dirty="0">
                <a:solidFill>
                  <a:schemeClr val="tx1"/>
                </a:solidFill>
              </a:rPr>
              <a:t>Grafana app metrics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число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914698"/>
            <a:ext cx="7239000" cy="3314104"/>
          </a:xfrm>
          <a:prstGeom prst="rect">
            <a:avLst/>
          </a:prstGeom>
        </p:spPr>
      </p:pic>
      <p:sp>
        <p:nvSpPr>
          <p:cNvPr id="4" name="Google Shape;78;p17"/>
          <p:cNvSpPr txBox="1"/>
          <p:nvPr/>
        </p:nvSpPr>
        <p:spPr>
          <a:xfrm>
            <a:off x="83101" y="0"/>
            <a:ext cx="8520600" cy="572700"/>
          </a:xfrm>
          <a:prstGeom prst="rect">
            <a:avLst/>
          </a:prstGeom>
        </p:spPr>
        <p:txBody>
          <a:bodyPr wrap="square" lIns="91425" tIns="91425" rIns="91425" bIns="91425" anchor="t">
            <a:normAutofit fontScale="97500"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400" dirty="0" err="1">
                <a:solidFill>
                  <a:schemeClr val="tx1"/>
                </a:solidFill>
              </a:rPr>
              <a:t>Langfuse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181</Words>
  <Application>Microsoft Office PowerPoint</Application>
  <PresentationFormat>Экран (16:9)</PresentationFormat>
  <Paragraphs>19</Paragraphs>
  <Slides>13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5" baseType="lpstr">
      <vt:lpstr>Arial</vt:lpstr>
      <vt:lpstr>Simple Dark</vt:lpstr>
      <vt:lpstr>Презентация PowerPoint</vt:lpstr>
      <vt:lpstr>Целевая аудитория</vt:lpstr>
      <vt:lpstr>Проблема, которую мы решаем</vt:lpstr>
      <vt:lpstr>Наше видение</vt:lpstr>
      <vt:lpstr>North Star Metric</vt:lpstr>
      <vt:lpstr>Презентация PowerPoint</vt:lpstr>
      <vt:lpstr>Презентация PowerPoint</vt:lpstr>
      <vt:lpstr>Docker-compose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Александр</cp:lastModifiedBy>
  <cp:revision>12</cp:revision>
  <dcterms:modified xsi:type="dcterms:W3CDTF">2025-12-15T08:35:30Z</dcterms:modified>
</cp:coreProperties>
</file>