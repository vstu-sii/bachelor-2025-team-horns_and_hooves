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0" r:id="rId6"/>
    <p:sldId id="263" r:id="rId7"/>
    <p:sldId id="262" r:id="rId8"/>
    <p:sldId id="261" r:id="rId9"/>
    <p:sldId id="266" r:id="rId10"/>
    <p:sldId id="267" r:id="rId11"/>
    <p:sldId id="268" r:id="rId12"/>
    <p:sldId id="269" r:id="rId13"/>
    <p:sldId id="270" r:id="rId14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8" autoAdjust="0"/>
    <p:restoredTop sz="94673" autoAdjust="0"/>
  </p:normalViewPr>
  <p:slideViewPr>
    <p:cSldViewPr snapToGrid="0">
      <p:cViewPr varScale="1">
        <p:scale>
          <a:sx n="138" d="100"/>
          <a:sy n="138" d="100"/>
        </p:scale>
        <p:origin x="540" y="138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b06cab2b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b06cab2b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b06cab2b3a_0_5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b06cab2b3a_0_5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b06cab2b3a_0_5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b06cab2b3a_0_5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b06cab2b3a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b06cab2b3a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b06cab2b3a_0_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b06cab2b3a_0_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25"/>
            <a:ext cx="45720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>
                <a:solidFill>
                  <a:schemeClr val="dk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>
                <a:solidFill>
                  <a:schemeClr val="dk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>
                <a:solidFill>
                  <a:schemeClr val="dk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dark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Char char="●"/>
              <a:defRPr sz="1800">
                <a:solidFill>
                  <a:schemeClr val="lt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●"/>
              <a:defRPr>
                <a:solidFill>
                  <a:schemeClr val="lt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○"/>
              <a:defRPr>
                <a:solidFill>
                  <a:schemeClr val="lt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400"/>
              <a:buChar char="■"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lt2"/>
                </a:solidFill>
              </a:defRPr>
            </a:lvl1pPr>
            <a:lvl2pPr lvl="1" algn="r">
              <a:buNone/>
              <a:defRPr sz="1000">
                <a:solidFill>
                  <a:schemeClr val="lt2"/>
                </a:solidFill>
              </a:defRPr>
            </a:lvl2pPr>
            <a:lvl3pPr lvl="2" algn="r">
              <a:buNone/>
              <a:defRPr sz="1000">
                <a:solidFill>
                  <a:schemeClr val="lt2"/>
                </a:solidFill>
              </a:defRPr>
            </a:lvl3pPr>
            <a:lvl4pPr lvl="3" algn="r">
              <a:buNone/>
              <a:defRPr sz="1000">
                <a:solidFill>
                  <a:schemeClr val="lt2"/>
                </a:solidFill>
              </a:defRPr>
            </a:lvl4pPr>
            <a:lvl5pPr lvl="4" algn="r">
              <a:buNone/>
              <a:defRPr sz="1000">
                <a:solidFill>
                  <a:schemeClr val="lt2"/>
                </a:solidFill>
              </a:defRPr>
            </a:lvl5pPr>
            <a:lvl6pPr lvl="5" algn="r">
              <a:buNone/>
              <a:defRPr sz="1000">
                <a:solidFill>
                  <a:schemeClr val="lt2"/>
                </a:solidFill>
              </a:defRPr>
            </a:lvl6pPr>
            <a:lvl7pPr lvl="6" algn="r">
              <a:buNone/>
              <a:defRPr sz="1000">
                <a:solidFill>
                  <a:schemeClr val="lt2"/>
                </a:solidFill>
              </a:defRPr>
            </a:lvl7pPr>
            <a:lvl8pPr lvl="7" algn="r">
              <a:buNone/>
              <a:defRPr sz="1000">
                <a:solidFill>
                  <a:schemeClr val="lt2"/>
                </a:solidFill>
              </a:defRPr>
            </a:lvl8pPr>
            <a:lvl9pPr lvl="8" algn="r">
              <a:buNone/>
              <a:defRPr sz="1000">
                <a:solidFill>
                  <a:schemeClr val="lt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Relationship Id="rId4" Type="http://schemas.openxmlformats.org/officeDocument/2006/relationships/image" Target="../media/image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Целевая аудитория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Люди среднего возраста (35-55 лет, испытывают проблемы со сном из-за изменения биоритмов)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Пожилые люди (60+ лет, качество сна ухудшается с возрастом)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Спортивные люди (20-50 лет, хотят оптимизировать циклы сна для восстановления после тренировок)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Проблема, которую мы решаем</a:t>
            </a:r>
            <a:endParaRPr/>
          </a:p>
        </p:txBody>
      </p:sp>
      <p:sp>
        <p:nvSpPr>
          <p:cNvPr id="67" name="Google Shape;67;p1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"40% взрослых людей по всему миру страдают от нарушений сна, но только 10% обращаются за профессиональной помощью"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Люди тратят 7-9 часов в сутки на сон, но не понимают его качества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Существующие трекеры показывают только "сколько", но не "насколько хорошо"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ru"/>
              <a:t>Отсутствие персонализированных, научно-обоснованных рекомендаций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/>
              <a:t>Наше видение</a:t>
            </a:r>
            <a:endParaRPr/>
          </a:p>
        </p:txBody>
      </p:sp>
      <p:sp>
        <p:nvSpPr>
          <p:cNvPr id="73" name="Google Shape;73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Персонализированная система анализа и улучшения качества сна с использованием AI. Приложение помогает отслеживать сон, анализировать его качество и получать персональные рекомендации для улучшения отдыха.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" dirty="0"/>
              <a:t>North Star Metric</a:t>
            </a:r>
            <a:endParaRPr dirty="0"/>
          </a:p>
        </p:txBody>
      </p:sp>
      <p:sp>
        <p:nvSpPr>
          <p:cNvPr id="79" name="Google Shape;79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ru"/>
              <a:t>Ключевой показатель качества сна (рассчитываемый по формуле на основе продолжительности, эффективности и соотношения фаз) стабильно улучшается или остается стабильно высоким (выше персонального порога) в течение 1 недели.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8BEFF-AE5C-8E47-FFC6-78CD48E58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Мультимедийное программное обеспечение, компьютер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5EF94812-A156-3961-B0F7-44E4BC6F20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9761"/>
            <a:ext cx="9144000" cy="46839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4060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Рисунок 4" descr="Изображение выглядит как текст, снимок экрана, диаграмм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23990EE-C864-0C40-F85B-4500FA83D6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22614"/>
            <a:ext cx="9144000" cy="46982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184139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2DA09FB7-FCC5-5A92-DEA3-95CE1CB4B4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22119" y="509915"/>
            <a:ext cx="5699760" cy="2061835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снимок экрана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D28A4B07-B00D-0E6A-2CA8-F2621D1868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6820" y="2671585"/>
            <a:ext cx="4450357" cy="2256470"/>
          </a:xfrm>
          <a:prstGeom prst="rect">
            <a:avLst/>
          </a:prstGeom>
        </p:spPr>
      </p:pic>
      <p:sp>
        <p:nvSpPr>
          <p:cNvPr id="8" name="Google Shape;78;p17">
            <a:extLst>
              <a:ext uri="{FF2B5EF4-FFF2-40B4-BE49-F238E27FC236}">
                <a16:creationId xmlns:a16="http://schemas.microsoft.com/office/drawing/2014/main" id="{4C88D826-D466-0C62-CF18-84F158EF2E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17737" y="-5812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Docker-compose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E031FE-CD7D-C448-A1E3-DF55EE8921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690FAAA5-4303-A321-752E-8A048689EE4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77416" y="2455228"/>
            <a:ext cx="5162674" cy="1192633"/>
          </a:xfrm>
          <a:prstGeom prst="rect">
            <a:avLst/>
          </a:prstGeom>
        </p:spPr>
      </p:pic>
      <p:pic>
        <p:nvPicPr>
          <p:cNvPr id="5" name="Рисунок 4" descr="Изображение выглядит как снимок экрана, текст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BBE1E54-8743-98B7-0FE1-7E3C916EB9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681" y="3790657"/>
            <a:ext cx="4914900" cy="1278642"/>
          </a:xfrm>
          <a:prstGeom prst="rect">
            <a:avLst/>
          </a:prstGeom>
        </p:spPr>
      </p:pic>
      <p:pic>
        <p:nvPicPr>
          <p:cNvPr id="7" name="Рисунок 6" descr="Изображение выглядит как текст, Шрифт, линия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4560BB5C-F59F-C6D1-4A34-7F6D1B0A7B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6673" y="480869"/>
            <a:ext cx="5034088" cy="1831563"/>
          </a:xfrm>
          <a:prstGeom prst="rect">
            <a:avLst/>
          </a:prstGeom>
        </p:spPr>
      </p:pic>
      <p:sp>
        <p:nvSpPr>
          <p:cNvPr id="9" name="Google Shape;78;p17">
            <a:extLst>
              <a:ext uri="{FF2B5EF4-FFF2-40B4-BE49-F238E27FC236}">
                <a16:creationId xmlns:a16="http://schemas.microsoft.com/office/drawing/2014/main" id="{A124F358-C123-E052-6230-BDBE3C9DA9F4}"/>
              </a:ext>
            </a:extLst>
          </p:cNvPr>
          <p:cNvSpPr txBox="1">
            <a:spLocks/>
          </p:cNvSpPr>
          <p:nvPr/>
        </p:nvSpPr>
        <p:spPr>
          <a:xfrm>
            <a:off x="117737" y="-5812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CI/CD</a:t>
            </a:r>
          </a:p>
        </p:txBody>
      </p:sp>
    </p:spTree>
    <p:extLst>
      <p:ext uri="{BB962C8B-B14F-4D97-AF65-F5344CB8AC3E}">
        <p14:creationId xmlns:p14="http://schemas.microsoft.com/office/powerpoint/2010/main" val="11682018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A568E725-5BE9-40D8-E883-F2808C5DDC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62645" y="462835"/>
            <a:ext cx="5230091" cy="2912409"/>
          </a:xfrm>
          <a:prstGeom prst="rect">
            <a:avLst/>
          </a:prstGeom>
        </p:spPr>
      </p:pic>
      <p:pic>
        <p:nvPicPr>
          <p:cNvPr id="5" name="Рисунок 4" descr="Изображение выглядит как текст, Шрифт, снимок экрана, дизайн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3EDF662D-A6D4-8787-5B8F-1F8168B9B1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473" y="3718158"/>
            <a:ext cx="3770726" cy="1101052"/>
          </a:xfrm>
          <a:prstGeom prst="rect">
            <a:avLst/>
          </a:prstGeom>
        </p:spPr>
      </p:pic>
      <p:sp>
        <p:nvSpPr>
          <p:cNvPr id="6" name="Google Shape;78;p17">
            <a:extLst>
              <a:ext uri="{FF2B5EF4-FFF2-40B4-BE49-F238E27FC236}">
                <a16:creationId xmlns:a16="http://schemas.microsoft.com/office/drawing/2014/main" id="{03DF9C69-45B3-55AB-7596-BC497BED2CF5}"/>
              </a:ext>
            </a:extLst>
          </p:cNvPr>
          <p:cNvSpPr txBox="1">
            <a:spLocks/>
          </p:cNvSpPr>
          <p:nvPr/>
        </p:nvSpPr>
        <p:spPr>
          <a:xfrm>
            <a:off x="117737" y="-5812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Notifications</a:t>
            </a:r>
          </a:p>
        </p:txBody>
      </p:sp>
    </p:spTree>
    <p:extLst>
      <p:ext uri="{BB962C8B-B14F-4D97-AF65-F5344CB8AC3E}">
        <p14:creationId xmlns:p14="http://schemas.microsoft.com/office/powerpoint/2010/main" val="6325418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Мультимедийное программное обеспечение, программное обеспечение, Графическое программное обеспече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8C78AFB2-1350-EDDE-8220-8B23C9E8156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5909" y="521169"/>
            <a:ext cx="7412182" cy="3526577"/>
          </a:xfrm>
          <a:prstGeom prst="rect">
            <a:avLst/>
          </a:prstGeom>
        </p:spPr>
      </p:pic>
      <p:sp>
        <p:nvSpPr>
          <p:cNvPr id="4" name="Google Shape;78;p17">
            <a:extLst>
              <a:ext uri="{FF2B5EF4-FFF2-40B4-BE49-F238E27FC236}">
                <a16:creationId xmlns:a16="http://schemas.microsoft.com/office/drawing/2014/main" id="{FD20E1A3-4B65-6A86-1D72-09AD3D2AABA7}"/>
              </a:ext>
            </a:extLst>
          </p:cNvPr>
          <p:cNvSpPr txBox="1">
            <a:spLocks/>
          </p:cNvSpPr>
          <p:nvPr/>
        </p:nvSpPr>
        <p:spPr>
          <a:xfrm>
            <a:off x="117737" y="-5812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Grafana system metrics</a:t>
            </a:r>
          </a:p>
        </p:txBody>
      </p:sp>
    </p:spTree>
    <p:extLst>
      <p:ext uri="{BB962C8B-B14F-4D97-AF65-F5344CB8AC3E}">
        <p14:creationId xmlns:p14="http://schemas.microsoft.com/office/powerpoint/2010/main" val="34399676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снимок экрана, Графическое программное обеспечение, Мультимедийное программное обеспечение, 3D-моделирование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1AFA6558-5773-3BD5-756B-B4D32A956C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9645" y="476953"/>
            <a:ext cx="7944710" cy="4189593"/>
          </a:xfrm>
          <a:prstGeom prst="rect">
            <a:avLst/>
          </a:prstGeom>
        </p:spPr>
      </p:pic>
      <p:sp>
        <p:nvSpPr>
          <p:cNvPr id="4" name="Google Shape;78;p17">
            <a:extLst>
              <a:ext uri="{FF2B5EF4-FFF2-40B4-BE49-F238E27FC236}">
                <a16:creationId xmlns:a16="http://schemas.microsoft.com/office/drawing/2014/main" id="{5BD10F1A-292B-99C2-9910-FE4545FEF8E3}"/>
              </a:ext>
            </a:extLst>
          </p:cNvPr>
          <p:cNvSpPr txBox="1">
            <a:spLocks/>
          </p:cNvSpPr>
          <p:nvPr/>
        </p:nvSpPr>
        <p:spPr>
          <a:xfrm>
            <a:off x="117737" y="-58121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>
                <a:solidFill>
                  <a:schemeClr val="tx1"/>
                </a:solidFill>
              </a:rPr>
              <a:t>Grafana app metrics</a:t>
            </a:r>
          </a:p>
        </p:txBody>
      </p:sp>
    </p:spTree>
    <p:extLst>
      <p:ext uri="{BB962C8B-B14F-4D97-AF65-F5344CB8AC3E}">
        <p14:creationId xmlns:p14="http://schemas.microsoft.com/office/powerpoint/2010/main" val="3659236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 descr="Изображение выглядит как текст, снимок экрана, Шрифт, число&#10;&#10;Содержимое, созданное искусственным интеллектом, может быть неверным.">
            <a:extLst>
              <a:ext uri="{FF2B5EF4-FFF2-40B4-BE49-F238E27FC236}">
                <a16:creationId xmlns:a16="http://schemas.microsoft.com/office/drawing/2014/main" id="{0AD6081F-FCC4-0F42-4411-7C294BCDE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2500" y="914698"/>
            <a:ext cx="7239000" cy="3314104"/>
          </a:xfrm>
          <a:prstGeom prst="rect">
            <a:avLst/>
          </a:prstGeom>
        </p:spPr>
      </p:pic>
      <p:sp>
        <p:nvSpPr>
          <p:cNvPr id="4" name="Google Shape;78;p17">
            <a:extLst>
              <a:ext uri="{FF2B5EF4-FFF2-40B4-BE49-F238E27FC236}">
                <a16:creationId xmlns:a16="http://schemas.microsoft.com/office/drawing/2014/main" id="{74F4C5F5-7B0E-B140-9A2F-CA30841B5C49}"/>
              </a:ext>
            </a:extLst>
          </p:cNvPr>
          <p:cNvSpPr txBox="1">
            <a:spLocks/>
          </p:cNvSpPr>
          <p:nvPr/>
        </p:nvSpPr>
        <p:spPr>
          <a:xfrm>
            <a:off x="83101" y="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7500"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2400" dirty="0" err="1">
                <a:solidFill>
                  <a:schemeClr val="tx1"/>
                </a:solidFill>
              </a:rPr>
              <a:t>Langfuse</a:t>
            </a:r>
            <a:endParaRPr lang="en-US" sz="2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9933698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Dark">
  <a:themeElements>
    <a:clrScheme name="Simple Dark">
      <a:dk1>
        <a:srgbClr val="FFFFFF"/>
      </a:dk1>
      <a:lt1>
        <a:srgbClr val="212121"/>
      </a:lt1>
      <a:dk2>
        <a:srgbClr val="303030"/>
      </a:dk2>
      <a:lt2>
        <a:srgbClr val="ADADAD"/>
      </a:lt2>
      <a:accent1>
        <a:srgbClr val="009688"/>
      </a:accent1>
      <a:accent2>
        <a:srgbClr val="EEEEEE"/>
      </a:accent2>
      <a:accent3>
        <a:srgbClr val="78909C"/>
      </a:accent3>
      <a:accent4>
        <a:srgbClr val="FFAB40"/>
      </a:accent4>
      <a:accent5>
        <a:srgbClr val="4DD0E1"/>
      </a:accent5>
      <a:accent6>
        <a:srgbClr val="EEFF41"/>
      </a:accent6>
      <a:hlink>
        <a:srgbClr val="4DD0E1"/>
      </a:hlink>
      <a:folHlink>
        <a:srgbClr val="4DD0E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181</Words>
  <Application>Microsoft Office PowerPoint</Application>
  <PresentationFormat>Экран (16:9)</PresentationFormat>
  <Paragraphs>19</Paragraphs>
  <Slides>13</Slides>
  <Notes>6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1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13</vt:i4>
      </vt:variant>
    </vt:vector>
  </HeadingPairs>
  <TitlesOfParts>
    <vt:vector size="15" baseType="lpstr">
      <vt:lpstr>Arial</vt:lpstr>
      <vt:lpstr>Simple Dark</vt:lpstr>
      <vt:lpstr>Презентация PowerPoint</vt:lpstr>
      <vt:lpstr>Целевая аудитория</vt:lpstr>
      <vt:lpstr>Проблема, которую мы решаем</vt:lpstr>
      <vt:lpstr>Наше видение</vt:lpstr>
      <vt:lpstr>North Star Metric</vt:lpstr>
      <vt:lpstr>Презентация PowerPoint</vt:lpstr>
      <vt:lpstr>Презентация PowerPoint</vt:lpstr>
      <vt:lpstr>Docker-compose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365 ProPlus</cp:lastModifiedBy>
  <cp:revision>12</cp:revision>
  <dcterms:modified xsi:type="dcterms:W3CDTF">2025-12-14T22:29:50Z</dcterms:modified>
</cp:coreProperties>
</file>